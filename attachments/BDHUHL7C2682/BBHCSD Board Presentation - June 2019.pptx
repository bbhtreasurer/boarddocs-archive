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1" r:id="rId9"/>
    <p:sldId id="267" r:id="rId10"/>
    <p:sldId id="268" r:id="rId11"/>
    <p:sldId id="269" r:id="rId12"/>
    <p:sldId id="262" r:id="rId13"/>
    <p:sldId id="263" r:id="rId14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45" d="100"/>
          <a:sy n="45" d="100"/>
        </p:scale>
        <p:origin x="70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8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4EDAADE-F7A9-4F37-BE26-0280D0A8E8A1}"/>
              </a:ext>
            </a:extLst>
          </p:cNvPr>
          <p:cNvSpPr/>
          <p:nvPr userDrawn="1"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E336838-F277-49DE-AC03-ECAD20F85281}"/>
              </a:ext>
            </a:extLst>
          </p:cNvPr>
          <p:cNvSpPr/>
          <p:nvPr userDrawn="1"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1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5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3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80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11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20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4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05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66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0E7FB-D734-4DE0-BFBC-3B6010D1488E}" type="datetimeFigureOut">
              <a:rPr lang="en-US" smtClean="0"/>
              <a:t>6/26/2019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F0FA9-8D11-45E1-943A-C794E1C3E7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6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ky">
            <a:extLst>
              <a:ext uri="{FF2B5EF4-FFF2-40B4-BE49-F238E27FC236}">
                <a16:creationId xmlns:a16="http://schemas.microsoft.com/office/drawing/2014/main" xmlns="" id="{5C5FFE9C-1CEF-4DE4-B577-19888396A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95"/>
          <a:stretch/>
        </p:blipFill>
        <p:spPr bwMode="auto">
          <a:xfrm>
            <a:off x="35168" y="1148862"/>
            <a:ext cx="1560747" cy="457200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brecksville schools">
            <a:extLst>
              <a:ext uri="{FF2B5EF4-FFF2-40B4-BE49-F238E27FC236}">
                <a16:creationId xmlns:a16="http://schemas.microsoft.com/office/drawing/2014/main" xmlns="" id="{9CDA1731-A76C-4579-BCAE-FEE312BC4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8" r="32925"/>
          <a:stretch/>
        </p:blipFill>
        <p:spPr bwMode="auto">
          <a:xfrm>
            <a:off x="5888301" y="1194385"/>
            <a:ext cx="1669932" cy="4571999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451A6A2-8CA0-4A1C-98DC-B80389FE755B}"/>
              </a:ext>
            </a:extLst>
          </p:cNvPr>
          <p:cNvSpPr/>
          <p:nvPr/>
        </p:nvSpPr>
        <p:spPr>
          <a:xfrm>
            <a:off x="0" y="902208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BFE23B3-467D-4D66-B513-590E5413C95D}"/>
              </a:ext>
            </a:extLst>
          </p:cNvPr>
          <p:cNvSpPr/>
          <p:nvPr/>
        </p:nvSpPr>
        <p:spPr>
          <a:xfrm>
            <a:off x="1641131" y="1173714"/>
            <a:ext cx="4187952" cy="454714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083B6E3-07D3-4968-96F5-053170517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424" y="4244914"/>
            <a:ext cx="3962400" cy="1032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A34C102-CAB7-449D-BCFB-B4EC912060C6}"/>
              </a:ext>
            </a:extLst>
          </p:cNvPr>
          <p:cNvSpPr txBox="1"/>
          <p:nvPr/>
        </p:nvSpPr>
        <p:spPr>
          <a:xfrm>
            <a:off x="1770688" y="5287032"/>
            <a:ext cx="3962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Strategic Plan – 2019 - 2024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42B6CAE4-0917-4475-88EA-3235BBE83B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148" y="6119989"/>
            <a:ext cx="1012446" cy="668274"/>
          </a:xfrm>
          <a:prstGeom prst="rect">
            <a:avLst/>
          </a:prstGeom>
        </p:spPr>
      </p:pic>
      <p:pic>
        <p:nvPicPr>
          <p:cNvPr id="3" name="Picture 2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xmlns="" id="{8D9C0D62-76D1-4D5A-869F-8B2A27F2EC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349" y="1231615"/>
            <a:ext cx="4063077" cy="30473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9517A61-3C0F-44F2-9AEE-FFE5DEB6CAE8}"/>
              </a:ext>
            </a:extLst>
          </p:cNvPr>
          <p:cNvSpPr/>
          <p:nvPr/>
        </p:nvSpPr>
        <p:spPr>
          <a:xfrm>
            <a:off x="7545394" y="1184565"/>
            <a:ext cx="1584193" cy="4528626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D7BCCD9-CF13-41E5-A356-63D0DAF08D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790" y="3429000"/>
            <a:ext cx="1803175" cy="190476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91BC45F-2034-4D6B-910F-32F1FD7C5577}"/>
              </a:ext>
            </a:extLst>
          </p:cNvPr>
          <p:cNvSpPr/>
          <p:nvPr/>
        </p:nvSpPr>
        <p:spPr>
          <a:xfrm>
            <a:off x="11722" y="5702340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89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357A23-C0ED-42E6-8836-64D994211AAA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STRATEGIC PLANNING 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E6951D4-B152-4318-8144-100FDC30236E}"/>
              </a:ext>
            </a:extLst>
          </p:cNvPr>
          <p:cNvSpPr txBox="1"/>
          <p:nvPr/>
        </p:nvSpPr>
        <p:spPr>
          <a:xfrm>
            <a:off x="0" y="973015"/>
            <a:ext cx="370449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Design and Steering Committees formed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Data review and analysis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Idea Lab Focus Groups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Refine mission, vision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SWOT analysis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Develop strategic objectives and action items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3D8E790-DBFA-48CE-BDE4-51A3A636D936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2" descr="Image result for brecksville bees">
            <a:extLst>
              <a:ext uri="{FF2B5EF4-FFF2-40B4-BE49-F238E27FC236}">
                <a16:creationId xmlns:a16="http://schemas.microsoft.com/office/drawing/2014/main" xmlns="" id="{EA1FF502-A4DB-46D9-B530-83BDAD84A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xmlns="" id="{0E45840C-4D23-425E-8A06-CB80CD21DE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1"/>
          <a:stretch/>
        </p:blipFill>
        <p:spPr>
          <a:xfrm>
            <a:off x="3670660" y="1507155"/>
            <a:ext cx="5357446" cy="38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6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Image result for school community partnerships">
            <a:extLst>
              <a:ext uri="{FF2B5EF4-FFF2-40B4-BE49-F238E27FC236}">
                <a16:creationId xmlns:a16="http://schemas.microsoft.com/office/drawing/2014/main" xmlns="" id="{E235CDDE-6E2E-4AB0-AF14-73B50DCC2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429" y="1005622"/>
            <a:ext cx="4447327" cy="285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xmlns="" id="{31A1CA9B-00CE-4D0F-B8B0-FC488DDCC8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7" b="12889"/>
          <a:stretch/>
        </p:blipFill>
        <p:spPr>
          <a:xfrm>
            <a:off x="4576576" y="4091354"/>
            <a:ext cx="4035649" cy="2244461"/>
          </a:xfrm>
          <a:prstGeom prst="rect">
            <a:avLst/>
          </a:prstGeom>
        </p:spPr>
      </p:pic>
      <p:pic>
        <p:nvPicPr>
          <p:cNvPr id="17" name="Picture 16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xmlns="" id="{BB4F4F23-27DD-4C55-83DD-EBEEF3D4ADD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11"/>
          <a:stretch/>
        </p:blipFill>
        <p:spPr>
          <a:xfrm>
            <a:off x="521208" y="4091354"/>
            <a:ext cx="4032505" cy="22444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D9BD861-CB01-43A9-8AF5-6610FA288084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OVER 100 PARTICIPANTS INVOLVED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933BB12-30F2-46EE-8573-53A0F7741826}"/>
              </a:ext>
            </a:extLst>
          </p:cNvPr>
          <p:cNvSpPr txBox="1"/>
          <p:nvPr/>
        </p:nvSpPr>
        <p:spPr>
          <a:xfrm>
            <a:off x="459589" y="1241250"/>
            <a:ext cx="25260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School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Administrators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Community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Local Partners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848D661-2EB1-4467-9DE6-7A997DF8E05B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Image result for brecksville bees">
            <a:extLst>
              <a:ext uri="{FF2B5EF4-FFF2-40B4-BE49-F238E27FC236}">
                <a16:creationId xmlns:a16="http://schemas.microsoft.com/office/drawing/2014/main" xmlns="" id="{13B70F4C-D194-4F31-813D-46333FE0C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A867C46-5C2E-47E6-B792-C36A005E04AE}"/>
              </a:ext>
            </a:extLst>
          </p:cNvPr>
          <p:cNvSpPr/>
          <p:nvPr/>
        </p:nvSpPr>
        <p:spPr>
          <a:xfrm>
            <a:off x="539496" y="4091354"/>
            <a:ext cx="4032504" cy="2245438"/>
          </a:xfrm>
          <a:prstGeom prst="rect">
            <a:avLst/>
          </a:prstGeom>
          <a:solidFill>
            <a:schemeClr val="accent4">
              <a:alpha val="79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000" b="1" dirty="0">
                <a:solidFill>
                  <a:schemeClr val="tx1"/>
                </a:solidFill>
              </a:rPr>
              <a:t>STEERING COMMITTEE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3 	</a:t>
            </a:r>
            <a:r>
              <a:rPr lang="en-US" sz="3000" dirty="0">
                <a:solidFill>
                  <a:schemeClr val="tx1"/>
                </a:solidFill>
              </a:rPr>
              <a:t>meetings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80	</a:t>
            </a:r>
            <a:r>
              <a:rPr lang="en-US" sz="3000" dirty="0">
                <a:solidFill>
                  <a:schemeClr val="tx1"/>
                </a:solidFill>
              </a:rPr>
              <a:t>participants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DD8D8BC-6972-45AB-9326-D03A9BFBDBC2}"/>
              </a:ext>
            </a:extLst>
          </p:cNvPr>
          <p:cNvSpPr/>
          <p:nvPr/>
        </p:nvSpPr>
        <p:spPr>
          <a:xfrm>
            <a:off x="4590288" y="4091354"/>
            <a:ext cx="4032504" cy="1111582"/>
          </a:xfrm>
          <a:prstGeom prst="rect">
            <a:avLst/>
          </a:prstGeom>
          <a:solidFill>
            <a:srgbClr val="92D050">
              <a:alpha val="8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b="1" dirty="0"/>
              <a:t>DESIGN COMMITTEE</a:t>
            </a:r>
          </a:p>
          <a:p>
            <a:r>
              <a:rPr lang="en-US" sz="2400" b="1" dirty="0"/>
              <a:t>4</a:t>
            </a:r>
            <a:r>
              <a:rPr lang="en-US" sz="2400" b="1"/>
              <a:t> </a:t>
            </a:r>
            <a:r>
              <a:rPr lang="en-US" sz="2400" dirty="0"/>
              <a:t>meetings</a:t>
            </a:r>
            <a:r>
              <a:rPr lang="en-US" sz="2400" b="1" dirty="0"/>
              <a:t>, 24 </a:t>
            </a:r>
            <a:r>
              <a:rPr lang="en-US" sz="2400" dirty="0"/>
              <a:t>participants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9260ABAE-6C6C-4795-B9E7-A3822107DFE1}"/>
              </a:ext>
            </a:extLst>
          </p:cNvPr>
          <p:cNvSpPr/>
          <p:nvPr/>
        </p:nvSpPr>
        <p:spPr>
          <a:xfrm>
            <a:off x="4590288" y="5224233"/>
            <a:ext cx="4032504" cy="1111582"/>
          </a:xfrm>
          <a:prstGeom prst="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/>
                </a:solidFill>
              </a:rPr>
              <a:t>FOCUS GROUPS</a:t>
            </a:r>
          </a:p>
          <a:p>
            <a:r>
              <a:rPr lang="en-US" sz="2600" b="1" dirty="0">
                <a:solidFill>
                  <a:schemeClr val="tx1"/>
                </a:solidFill>
              </a:rPr>
              <a:t>6</a:t>
            </a:r>
            <a:r>
              <a:rPr lang="en-US" sz="2600" dirty="0">
                <a:solidFill>
                  <a:schemeClr val="tx1"/>
                </a:solidFill>
              </a:rPr>
              <a:t> meetings, </a:t>
            </a:r>
            <a:r>
              <a:rPr lang="en-US" sz="2600" b="1" dirty="0">
                <a:solidFill>
                  <a:schemeClr val="tx1"/>
                </a:solidFill>
              </a:rPr>
              <a:t>60+</a:t>
            </a:r>
            <a:r>
              <a:rPr lang="en-US" sz="2600" dirty="0">
                <a:solidFill>
                  <a:schemeClr val="tx1"/>
                </a:solidFill>
              </a:rPr>
              <a:t> participants</a:t>
            </a:r>
          </a:p>
        </p:txBody>
      </p:sp>
    </p:spTree>
    <p:extLst>
      <p:ext uri="{BB962C8B-B14F-4D97-AF65-F5344CB8AC3E}">
        <p14:creationId xmlns:p14="http://schemas.microsoft.com/office/powerpoint/2010/main" val="426617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0968C9F-03D6-479C-859C-338BF5556002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MISSION AND VISION STATEMENTS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B9BCA0E-35DC-4261-A4A1-7B795505A6EB}"/>
              </a:ext>
            </a:extLst>
          </p:cNvPr>
          <p:cNvSpPr txBox="1"/>
          <p:nvPr/>
        </p:nvSpPr>
        <p:spPr>
          <a:xfrm>
            <a:off x="850739" y="1697298"/>
            <a:ext cx="776246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600" b="1" dirty="0"/>
              <a:t>MISSION:</a:t>
            </a:r>
          </a:p>
          <a:p>
            <a:pPr>
              <a:spcBef>
                <a:spcPts val="1200"/>
              </a:spcBef>
            </a:pPr>
            <a:r>
              <a:rPr lang="en-US" sz="2800" i="1" dirty="0"/>
              <a:t>Preparing our students for their futures.</a:t>
            </a:r>
          </a:p>
          <a:p>
            <a:pPr>
              <a:spcBef>
                <a:spcPts val="1200"/>
              </a:spcBef>
            </a:pPr>
            <a:endParaRPr lang="en-US" sz="2800" dirty="0"/>
          </a:p>
          <a:p>
            <a:pPr>
              <a:spcBef>
                <a:spcPts val="1200"/>
              </a:spcBef>
            </a:pPr>
            <a:r>
              <a:rPr lang="en-US" sz="3600" b="1" dirty="0"/>
              <a:t>VISION:</a:t>
            </a:r>
          </a:p>
          <a:p>
            <a:pPr>
              <a:spcBef>
                <a:spcPts val="1200"/>
              </a:spcBef>
            </a:pPr>
            <a:r>
              <a:rPr lang="en-US" sz="2800" i="1" dirty="0"/>
              <a:t>Bee your best, Bee one community, Bee the future.</a:t>
            </a:r>
          </a:p>
          <a:p>
            <a:pPr>
              <a:spcBef>
                <a:spcPts val="1200"/>
              </a:spcBef>
            </a:pP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03612EE-FC08-41A5-A2B7-1EC313E1E1B8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2" descr="Image result for brecksville bees">
            <a:extLst>
              <a:ext uri="{FF2B5EF4-FFF2-40B4-BE49-F238E27FC236}">
                <a16:creationId xmlns:a16="http://schemas.microsoft.com/office/drawing/2014/main" xmlns="" id="{A9BE8FEB-7A74-47A0-BD82-DF05E256A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90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09D5187-804F-47EA-84FA-C522DFCC6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130" y="67989"/>
            <a:ext cx="6722022" cy="67220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0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9B03B4B-EB64-44FF-AA16-D788581F5D1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41D7591-716D-4EBC-8B09-2F55614ACBE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D082663-5D37-4566-99E0-D82811E28518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STRATEGIC FOCUS AREAS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6B02153-D5FD-4F87-A380-EB8ECB09B45F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2" descr="Image result for brecksville bees">
            <a:extLst>
              <a:ext uri="{FF2B5EF4-FFF2-40B4-BE49-F238E27FC236}">
                <a16:creationId xmlns:a16="http://schemas.microsoft.com/office/drawing/2014/main" xmlns="" id="{A811B180-4053-42A1-AE40-E754F8A77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DC0FBBBC-5DB4-49D3-A2B6-CC11BF0F1BF0}"/>
              </a:ext>
            </a:extLst>
          </p:cNvPr>
          <p:cNvSpPr/>
          <p:nvPr/>
        </p:nvSpPr>
        <p:spPr>
          <a:xfrm>
            <a:off x="2054352" y="1765652"/>
            <a:ext cx="2482632" cy="21031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Career Ready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Instructional Design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Staff Development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68EA1ADA-5365-4828-8720-54174B87C459}"/>
              </a:ext>
            </a:extLst>
          </p:cNvPr>
          <p:cNvSpPr/>
          <p:nvPr/>
        </p:nvSpPr>
        <p:spPr>
          <a:xfrm>
            <a:off x="4582704" y="1765652"/>
            <a:ext cx="2487168" cy="21031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Partnerships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Communication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Collaboration with Families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BC60340B-17C3-46BE-9E20-9DEA9A6C54C6}"/>
              </a:ext>
            </a:extLst>
          </p:cNvPr>
          <p:cNvSpPr/>
          <p:nvPr/>
        </p:nvSpPr>
        <p:spPr>
          <a:xfrm>
            <a:off x="2054352" y="3914492"/>
            <a:ext cx="2482632" cy="21000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Learning Environments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Programming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Financial Responsibility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E4A05D46-2347-479E-B701-DF935D6E0EE6}"/>
              </a:ext>
            </a:extLst>
          </p:cNvPr>
          <p:cNvSpPr/>
          <p:nvPr/>
        </p:nvSpPr>
        <p:spPr>
          <a:xfrm>
            <a:off x="4582704" y="3911444"/>
            <a:ext cx="2487168" cy="21031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Whole Child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Inclusion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Cultural Playbook</a:t>
            </a:r>
          </a:p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CA16614-BD6D-49D5-A820-DCCF8E3E991D}"/>
              </a:ext>
            </a:extLst>
          </p:cNvPr>
          <p:cNvSpPr/>
          <p:nvPr/>
        </p:nvSpPr>
        <p:spPr>
          <a:xfrm>
            <a:off x="5655527" y="1348962"/>
            <a:ext cx="2741489" cy="95097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2. Engaged Community and Families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2BBE479-5395-49B3-AF37-BAAF10DEB419}"/>
              </a:ext>
            </a:extLst>
          </p:cNvPr>
          <p:cNvSpPr/>
          <p:nvPr/>
        </p:nvSpPr>
        <p:spPr>
          <a:xfrm>
            <a:off x="746984" y="1348598"/>
            <a:ext cx="2741489" cy="95134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1. Prepared Students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032BCA82-92FC-44B3-BBD8-7FA094C3B88A}"/>
              </a:ext>
            </a:extLst>
          </p:cNvPr>
          <p:cNvSpPr/>
          <p:nvPr/>
        </p:nvSpPr>
        <p:spPr>
          <a:xfrm>
            <a:off x="746983" y="5400191"/>
            <a:ext cx="2741489" cy="95097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3. Responsive Learning Environments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A1B095D8-9B5B-42D1-A2AD-91C96E1034C0}"/>
              </a:ext>
            </a:extLst>
          </p:cNvPr>
          <p:cNvSpPr/>
          <p:nvPr/>
        </p:nvSpPr>
        <p:spPr>
          <a:xfrm>
            <a:off x="5655527" y="5404207"/>
            <a:ext cx="2741489" cy="95134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4. Inclusive, Supportive Culture</a:t>
            </a:r>
          </a:p>
        </p:txBody>
      </p:sp>
    </p:spTree>
    <p:extLst>
      <p:ext uri="{BB962C8B-B14F-4D97-AF65-F5344CB8AC3E}">
        <p14:creationId xmlns:p14="http://schemas.microsoft.com/office/powerpoint/2010/main" val="44306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FCFFF3D-A342-4823-ACCF-545D29ED810B}"/>
              </a:ext>
            </a:extLst>
          </p:cNvPr>
          <p:cNvSpPr txBox="1"/>
          <p:nvPr/>
        </p:nvSpPr>
        <p:spPr>
          <a:xfrm>
            <a:off x="148663" y="1185937"/>
            <a:ext cx="20224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STRATEGY ACHIEVES PORTRAIT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A997965-B6F6-4B90-94B3-D34C19CAB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78" y="0"/>
            <a:ext cx="7002740" cy="691940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7A3ADA5-5005-482C-9CCA-C78ED98D231B}"/>
              </a:ext>
            </a:extLst>
          </p:cNvPr>
          <p:cNvSpPr/>
          <p:nvPr/>
        </p:nvSpPr>
        <p:spPr>
          <a:xfrm>
            <a:off x="0" y="2661977"/>
            <a:ext cx="22078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2" descr="Image result for brecksville bees">
            <a:extLst>
              <a:ext uri="{FF2B5EF4-FFF2-40B4-BE49-F238E27FC236}">
                <a16:creationId xmlns:a16="http://schemas.microsoft.com/office/drawing/2014/main" xmlns="" id="{330566C7-3822-4CDD-9CBD-173A99D57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45" y="559153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37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E13BD71-9418-4CF7-BD69-083D7911387E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STRATEGIC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F1324B5-7E83-43ED-8246-EF48C1A735F3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201A62E-A179-4A6A-BD9E-B95D67A710EB}"/>
              </a:ext>
            </a:extLst>
          </p:cNvPr>
          <p:cNvSpPr/>
          <p:nvPr/>
        </p:nvSpPr>
        <p:spPr>
          <a:xfrm>
            <a:off x="211015" y="1430213"/>
            <a:ext cx="8698523" cy="4876802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Prepared Students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Implement evidence-based instructional best practices that  maximize student learnings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Provide all students grade level appropriate opportunities to explore a variety of careers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Ensure all students have a personalized pathway for graduation and their future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Provide professional learning opportunities that align and engage all staff</a:t>
            </a:r>
          </a:p>
        </p:txBody>
      </p:sp>
      <p:pic>
        <p:nvPicPr>
          <p:cNvPr id="12" name="Picture 2" descr="Image result for brecksville bees">
            <a:extLst>
              <a:ext uri="{FF2B5EF4-FFF2-40B4-BE49-F238E27FC236}">
                <a16:creationId xmlns:a16="http://schemas.microsoft.com/office/drawing/2014/main" xmlns="" id="{2BBC1BF7-8640-4AF2-AEC7-DC880A49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65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E13BD71-9418-4CF7-BD69-083D7911387E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STRATEGIC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F1324B5-7E83-43ED-8246-EF48C1A735F3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FCCC22-D3EB-43B8-95C0-795195D6965E}"/>
              </a:ext>
            </a:extLst>
          </p:cNvPr>
          <p:cNvSpPr/>
          <p:nvPr/>
        </p:nvSpPr>
        <p:spPr>
          <a:xfrm>
            <a:off x="304800" y="1430212"/>
            <a:ext cx="8616463" cy="488852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Engaged Community and Families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Engage families and community members with ongoing communication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Coordinate and collaborate with parent organizations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Develop mutually beneficial partnerships with local businesses and organizations that create internship and career opportunities for our students</a:t>
            </a:r>
          </a:p>
        </p:txBody>
      </p:sp>
      <p:pic>
        <p:nvPicPr>
          <p:cNvPr id="12" name="Picture 2" descr="Image result for brecksville bees">
            <a:extLst>
              <a:ext uri="{FF2B5EF4-FFF2-40B4-BE49-F238E27FC236}">
                <a16:creationId xmlns:a16="http://schemas.microsoft.com/office/drawing/2014/main" xmlns="" id="{2BBC1BF7-8640-4AF2-AEC7-DC880A49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30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E13BD71-9418-4CF7-BD69-083D7911387E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STRATEGIC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F1324B5-7E83-43ED-8246-EF48C1A735F3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D393CD8-2500-4ACA-8149-47A722824A4E}"/>
              </a:ext>
            </a:extLst>
          </p:cNvPr>
          <p:cNvSpPr/>
          <p:nvPr/>
        </p:nvSpPr>
        <p:spPr>
          <a:xfrm>
            <a:off x="211015" y="1441938"/>
            <a:ext cx="8416501" cy="467604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Responsive Learning Environments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 effective learning environments for student well-being and achievement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Provide engaging programs and extracurriculars so that all students are connected to their school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Ensure fiscal responsibility for the long term sustainability of resources and facilities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2" name="Picture 2" descr="Image result for brecksville bees">
            <a:extLst>
              <a:ext uri="{FF2B5EF4-FFF2-40B4-BE49-F238E27FC236}">
                <a16:creationId xmlns:a16="http://schemas.microsoft.com/office/drawing/2014/main" xmlns="" id="{2BBC1BF7-8640-4AF2-AEC7-DC880A49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352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E13BD71-9418-4CF7-BD69-083D7911387E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STRATEGIC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F1324B5-7E83-43ED-8246-EF48C1A735F3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9F3589F-598A-4017-90EA-C4A790C20BE2}"/>
              </a:ext>
            </a:extLst>
          </p:cNvPr>
          <p:cNvSpPr/>
          <p:nvPr/>
        </p:nvSpPr>
        <p:spPr>
          <a:xfrm>
            <a:off x="293078" y="1383323"/>
            <a:ext cx="8628186" cy="4734660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Inclusive, Supportive Culture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Live the Culture Playbook throughout the District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Provide support and training for student and staff social / emotional competencies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Address mental health through broad awareness and skill building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Expand service opportunities for students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2" name="Picture 2" descr="Image result for brecksville bees">
            <a:extLst>
              <a:ext uri="{FF2B5EF4-FFF2-40B4-BE49-F238E27FC236}">
                <a16:creationId xmlns:a16="http://schemas.microsoft.com/office/drawing/2014/main" xmlns="" id="{2BBC1BF7-8640-4AF2-AEC7-DC880A49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90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51D5F16-72E6-45B6-91B8-46D71023E13E}"/>
              </a:ext>
            </a:extLst>
          </p:cNvPr>
          <p:cNvSpPr/>
          <p:nvPr/>
        </p:nvSpPr>
        <p:spPr>
          <a:xfrm>
            <a:off x="0" y="6492874"/>
            <a:ext cx="1701478" cy="3651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CD8D479-8942-46E8-A226-A4E01F7A105C}" type="slidenum">
              <a:rPr lang="en-US" smtClean="0"/>
              <a:pPr algn="ctr"/>
              <a:t>12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C9566E-1CFB-43F4-91F8-87D25F034237}"/>
              </a:ext>
            </a:extLst>
          </p:cNvPr>
          <p:cNvSpPr/>
          <p:nvPr/>
        </p:nvSpPr>
        <p:spPr>
          <a:xfrm>
            <a:off x="1853878" y="6492874"/>
            <a:ext cx="7290122" cy="3651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6E2B02E-945C-439A-A2D2-7C41BC5CD7EE}"/>
              </a:ext>
            </a:extLst>
          </p:cNvPr>
          <p:cNvSpPr txBox="1"/>
          <p:nvPr/>
        </p:nvSpPr>
        <p:spPr>
          <a:xfrm>
            <a:off x="615461" y="2613392"/>
            <a:ext cx="79130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i="1" dirty="0">
                <a:solidFill>
                  <a:srgbClr val="C00000"/>
                </a:solidFill>
              </a:rPr>
              <a:t>What’s next?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744E578-E35F-4AE0-B5C4-A73DCC55E914}"/>
              </a:ext>
            </a:extLst>
          </p:cNvPr>
          <p:cNvSpPr/>
          <p:nvPr/>
        </p:nvSpPr>
        <p:spPr>
          <a:xfrm>
            <a:off x="0" y="643142"/>
            <a:ext cx="9144000" cy="2715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2" descr="Image result for brecksville bees">
            <a:extLst>
              <a:ext uri="{FF2B5EF4-FFF2-40B4-BE49-F238E27FC236}">
                <a16:creationId xmlns:a16="http://schemas.microsoft.com/office/drawing/2014/main" xmlns="" id="{44776549-3DE7-42FD-9104-CE60BBF6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177" y="328225"/>
            <a:ext cx="901339" cy="90133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04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50FBFDE-94DA-47D1-9C33-EE9D9321AFB3}"/>
              </a:ext>
            </a:extLst>
          </p:cNvPr>
          <p:cNvSpPr txBox="1"/>
          <p:nvPr/>
        </p:nvSpPr>
        <p:spPr>
          <a:xfrm>
            <a:off x="1065780" y="1197567"/>
            <a:ext cx="701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2060"/>
                </a:solidFill>
              </a:rPr>
              <a:t>THANK YOU!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FE3D039-9507-4F82-8A44-43933B7F7E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284" y="4336994"/>
            <a:ext cx="2503431" cy="165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0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</TotalTime>
  <Words>322</Words>
  <Application>Microsoft Office PowerPoint</Application>
  <PresentationFormat>On-screen Show (4:3)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Cheryl Fule</dc:creator>
  <cp:lastModifiedBy>du</cp:lastModifiedBy>
  <cp:revision>28</cp:revision>
  <cp:lastPrinted>2019-06-25T18:06:12Z</cp:lastPrinted>
  <dcterms:created xsi:type="dcterms:W3CDTF">2019-06-24T19:10:05Z</dcterms:created>
  <dcterms:modified xsi:type="dcterms:W3CDTF">2019-06-26T21:45:12Z</dcterms:modified>
</cp:coreProperties>
</file>