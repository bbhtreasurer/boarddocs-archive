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09832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6202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0189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7181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2999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c134f63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5c134f63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7513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6995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3276600" y="390525"/>
            <a:ext cx="55046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218688" y="6356350"/>
            <a:ext cx="47365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256494" y="635635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7212106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Picture">
  <p:cSld name="Title Slide with Pictur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4"/>
          <p:cNvSpPr txBox="1"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3276600" y="389965"/>
            <a:ext cx="549984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213847" y="6356350"/>
            <a:ext cx="47341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265459" y="635635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3200400" y="2877671"/>
            <a:ext cx="5646867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Picture">
  <p:cSld name="Title, Content, and Pictur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2178423" y="2209800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7212106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2178423" y="6356350"/>
            <a:ext cx="4926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3316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2"/>
          </p:nvPr>
        </p:nvSpPr>
        <p:spPr>
          <a:xfrm>
            <a:off x="269875" y="1976718"/>
            <a:ext cx="1645920" cy="46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5562600" y="6356350"/>
            <a:ext cx="1622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53115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with Picture">
  <p:cSld name="Section with Pictur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351212" y="6104965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>
            <a:spLocks noGrp="1"/>
          </p:cNvSpPr>
          <p:nvPr>
            <p:ph type="pic" idx="2"/>
          </p:nvPr>
        </p:nvSpPr>
        <p:spPr>
          <a:xfrm>
            <a:off x="269874" y="268288"/>
            <a:ext cx="2971800" cy="443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428244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457200" y="2689411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3"/>
          </p:nvPr>
        </p:nvSpPr>
        <p:spPr>
          <a:xfrm>
            <a:off x="4279391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4"/>
          </p:nvPr>
        </p:nvSpPr>
        <p:spPr>
          <a:xfrm>
            <a:off x="4279391" y="2689411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◼"/>
              <a:defRPr sz="16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ntent, Top and Bottom">
  <p:cSld name="2 Content, Top and Bottom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457199" y="2214562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2"/>
          </p:nvPr>
        </p:nvSpPr>
        <p:spPr>
          <a:xfrm>
            <a:off x="457199" y="4224973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ntent">
  <p:cSld name="3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2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3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ntent">
  <p:cSld name="4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2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1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2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body" idx="3"/>
          </p:nvPr>
        </p:nvSpPr>
        <p:spPr>
          <a:xfrm>
            <a:off x="45720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4"/>
          </p:nvPr>
        </p:nvSpPr>
        <p:spPr>
          <a:xfrm>
            <a:off x="45720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4762052" y="990600"/>
            <a:ext cx="3566160" cy="513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 sz="18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2"/>
          </p:nvPr>
        </p:nvSpPr>
        <p:spPr>
          <a:xfrm>
            <a:off x="457199" y="2057400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457199" y="2057400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dt" idx="10"/>
          </p:nvPr>
        </p:nvSpPr>
        <p:spPr>
          <a:xfrm>
            <a:off x="161365" y="6124014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38637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6"/>
          <p:cNvSpPr>
            <a:spLocks noGrp="1"/>
          </p:cNvSpPr>
          <p:nvPr>
            <p:ph type="pic" idx="2"/>
          </p:nvPr>
        </p:nvSpPr>
        <p:spPr>
          <a:xfrm>
            <a:off x="4760258" y="990600"/>
            <a:ext cx="4096512" cy="561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bove Caption" type="picTx">
  <p:cSld name="PICTURE_WITH_CAPTION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>
            <a:spLocks noGrp="1"/>
          </p:cNvSpPr>
          <p:nvPr>
            <p:ph type="pic" idx="2"/>
          </p:nvPr>
        </p:nvSpPr>
        <p:spPr>
          <a:xfrm>
            <a:off x="269874" y="268288"/>
            <a:ext cx="6858000" cy="363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458788" y="4840941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Pictures with Caption">
  <p:cSld name="4 Pictures with Caption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sz="2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8"/>
          <p:cNvSpPr>
            <a:spLocks noGrp="1"/>
          </p:cNvSpPr>
          <p:nvPr>
            <p:ph type="pic" idx="2"/>
          </p:nvPr>
        </p:nvSpPr>
        <p:spPr>
          <a:xfrm>
            <a:off x="269874" y="268288"/>
            <a:ext cx="3006726" cy="363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1"/>
          </p:nvPr>
        </p:nvSpPr>
        <p:spPr>
          <a:xfrm>
            <a:off x="458788" y="4840941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8"/>
          <p:cNvSpPr>
            <a:spLocks noGrp="1"/>
          </p:cNvSpPr>
          <p:nvPr>
            <p:ph type="pic" idx="3"/>
          </p:nvPr>
        </p:nvSpPr>
        <p:spPr>
          <a:xfrm>
            <a:off x="3352800" y="268288"/>
            <a:ext cx="4701988" cy="177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5" name="Google Shape;145;p18"/>
          <p:cNvSpPr>
            <a:spLocks noGrp="1"/>
          </p:cNvSpPr>
          <p:nvPr>
            <p:ph type="pic" idx="4"/>
          </p:nvPr>
        </p:nvSpPr>
        <p:spPr>
          <a:xfrm>
            <a:off x="3352800" y="2131935"/>
            <a:ext cx="2304288" cy="177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6" name="Google Shape;146;p18"/>
          <p:cNvSpPr>
            <a:spLocks noGrp="1"/>
          </p:cNvSpPr>
          <p:nvPr>
            <p:ph type="pic" idx="5"/>
          </p:nvPr>
        </p:nvSpPr>
        <p:spPr>
          <a:xfrm>
            <a:off x="5750500" y="2131935"/>
            <a:ext cx="2304288" cy="177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4C0000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 rot="5400000">
            <a:off x="1753206" y="913793"/>
            <a:ext cx="3916363" cy="650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0"/>
          <p:cNvSpPr txBox="1">
            <a:spLocks noGrp="1"/>
          </p:cNvSpPr>
          <p:nvPr>
            <p:ph type="title"/>
          </p:nvPr>
        </p:nvSpPr>
        <p:spPr>
          <a:xfrm rot="5400000">
            <a:off x="5659577" y="2919646"/>
            <a:ext cx="5090739" cy="132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 rot="5400000">
            <a:off x="912206" y="580419"/>
            <a:ext cx="5109789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◼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◼"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spcBef>
                <a:spcPts val="60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4C0000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rgbClr val="84848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256494" y="361016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2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ctrTitle"/>
          </p:nvPr>
        </p:nvSpPr>
        <p:spPr>
          <a:xfrm>
            <a:off x="3200400" y="4208929"/>
            <a:ext cx="5458968" cy="1553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40"/>
              <a:buFont typeface="Century Gothic"/>
              <a:buNone/>
            </a:pPr>
            <a:r>
              <a:rPr lang="en-US" sz="3600"/>
              <a:t>Department Reviews</a:t>
            </a:r>
            <a:br>
              <a:rPr lang="en-US" sz="3600"/>
            </a:br>
            <a:r>
              <a:rPr lang="en-US" sz="3600"/>
              <a:t>August 7, 2019</a:t>
            </a:r>
            <a:endParaRPr sz="3600"/>
          </a:p>
        </p:txBody>
      </p:sp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825" y="447200"/>
            <a:ext cx="3904133" cy="3904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0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457200" y="823575"/>
            <a:ext cx="6508500" cy="1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BUSINESS SERVICES</a:t>
            </a:r>
            <a:br>
              <a:rPr lang="en-US"/>
            </a:br>
            <a:r>
              <a:rPr lang="en-US"/>
              <a:t>Mr. Chris Coad</a:t>
            </a:r>
            <a:endParaRPr/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725" y="249625"/>
            <a:ext cx="1889901" cy="1889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457200" y="1991350"/>
            <a:ext cx="7607400" cy="41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Elementary School Construction and School Consolidation </a:t>
            </a:r>
            <a:endParaRPr/>
          </a:p>
          <a:p>
            <a:pPr marL="228600" lvl="0" indent="-228600" algn="l" rtl="0">
              <a:spcBef>
                <a:spcPts val="18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Facility Permanent Improvement Projects</a:t>
            </a:r>
            <a:endParaRPr/>
          </a:p>
          <a:p>
            <a:pPr marL="228600" lvl="0" indent="-228600" algn="l" rtl="0">
              <a:spcBef>
                <a:spcPts val="18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School Safety and Security</a:t>
            </a:r>
            <a:endParaRPr/>
          </a:p>
          <a:p>
            <a:pPr marL="228600" lvl="0" indent="-228600" algn="l" rtl="0">
              <a:spcBef>
                <a:spcPts val="18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ComDoc-Xerox Copiers and Printers</a:t>
            </a:r>
            <a:endParaRPr/>
          </a:p>
          <a:p>
            <a:pPr marL="228600" lvl="0" indent="-228600" algn="l" rtl="0">
              <a:spcBef>
                <a:spcPts val="18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Bureau of Workers’ Compensation Group Retro Plan</a:t>
            </a:r>
            <a:endParaRPr/>
          </a:p>
          <a:p>
            <a:pPr marL="228600" lvl="0" indent="-228600" algn="l" rtl="0">
              <a:spcBef>
                <a:spcPts val="18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Liability Insurance</a:t>
            </a:r>
            <a:endParaRPr/>
          </a:p>
          <a:p>
            <a:pPr marL="228600" lvl="0" indent="-215900" algn="l" rtl="0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Transportation Operations</a:t>
            </a:r>
            <a:endParaRPr/>
          </a:p>
          <a:p>
            <a:pPr marL="228600" lvl="0" indent="-215900" algn="l" rtl="0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Food Service</a:t>
            </a:r>
            <a:endParaRPr/>
          </a:p>
          <a:p>
            <a:pPr marL="22860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0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667067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CURRICULUM/INSTRUCTION</a:t>
            </a:r>
            <a:br>
              <a:rPr lang="en-US"/>
            </a:br>
            <a:r>
              <a:rPr lang="en-US"/>
              <a:t>Dr. David Martin</a:t>
            </a:r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body" idx="1"/>
          </p:nvPr>
        </p:nvSpPr>
        <p:spPr>
          <a:xfrm>
            <a:off x="621650" y="2209800"/>
            <a:ext cx="7627800" cy="3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41300" algn="l" rtl="0">
              <a:spcBef>
                <a:spcPts val="1800"/>
              </a:spcBef>
              <a:spcAft>
                <a:spcPts val="0"/>
              </a:spcAft>
              <a:buSzPts val="2200"/>
              <a:buFont typeface="Century Gothic"/>
              <a:buChar char="●"/>
            </a:pPr>
            <a:r>
              <a:rPr lang="en-US" sz="2200">
                <a:solidFill>
                  <a:schemeClr val="dk1"/>
                </a:solidFill>
              </a:rPr>
              <a:t>Goals for 2018-2019:</a:t>
            </a:r>
            <a:endParaRPr sz="2200">
              <a:solidFill>
                <a:schemeClr val="dk1"/>
              </a:solidFill>
            </a:endParaRPr>
          </a:p>
          <a:p>
            <a:pPr marL="457200" lvl="1" indent="-228600" algn="l" rtl="0">
              <a:spcBef>
                <a:spcPts val="1800"/>
              </a:spcBef>
              <a:spcAft>
                <a:spcPts val="0"/>
              </a:spcAft>
              <a:buSzPts val="1800"/>
              <a:buFont typeface="Century Gothic"/>
              <a:buChar char="○"/>
            </a:pPr>
            <a:r>
              <a:rPr lang="en-US" sz="1800">
                <a:solidFill>
                  <a:schemeClr val="dk1"/>
                </a:solidFill>
              </a:rPr>
              <a:t>Continue to improve the district’s responsiveness to the learning needs of all students.</a:t>
            </a:r>
            <a:endParaRPr sz="1800">
              <a:solidFill>
                <a:schemeClr val="dk1"/>
              </a:solidFill>
            </a:endParaRPr>
          </a:p>
          <a:p>
            <a:pPr marL="457200" lvl="1" indent="-228600" algn="l" rtl="0">
              <a:spcBef>
                <a:spcPts val="1800"/>
              </a:spcBef>
              <a:spcAft>
                <a:spcPts val="0"/>
              </a:spcAft>
              <a:buSzPts val="1800"/>
              <a:buFont typeface="Century Gothic"/>
              <a:buChar char="○"/>
            </a:pPr>
            <a:r>
              <a:rPr lang="en-US" sz="1800">
                <a:solidFill>
                  <a:schemeClr val="dk1"/>
                </a:solidFill>
              </a:rPr>
              <a:t>Improve the district’s systematic approach for adopting materials and resources.</a:t>
            </a:r>
            <a:endParaRPr sz="1800">
              <a:solidFill>
                <a:schemeClr val="dk1"/>
              </a:solidFill>
            </a:endParaRPr>
          </a:p>
          <a:p>
            <a:pPr marL="457200" lvl="1" indent="-228600" algn="l" rtl="0">
              <a:spcBef>
                <a:spcPts val="1800"/>
              </a:spcBef>
              <a:spcAft>
                <a:spcPts val="0"/>
              </a:spcAft>
              <a:buSzPts val="1800"/>
              <a:buFont typeface="Century Gothic"/>
              <a:buChar char="○"/>
            </a:pPr>
            <a:r>
              <a:rPr lang="en-US" sz="1800">
                <a:solidFill>
                  <a:schemeClr val="dk1"/>
                </a:solidFill>
              </a:rPr>
              <a:t>Implement initiatives to improve the overall culture in the district (Focus 3).</a:t>
            </a:r>
            <a:endParaRPr sz="1800">
              <a:solidFill>
                <a:schemeClr val="dk1"/>
              </a:solidFill>
            </a:endParaRPr>
          </a:p>
          <a:p>
            <a:pPr marL="457200" lvl="1" indent="-228600" algn="l" rtl="0">
              <a:spcBef>
                <a:spcPts val="1800"/>
              </a:spcBef>
              <a:spcAft>
                <a:spcPts val="0"/>
              </a:spcAft>
              <a:buSzPts val="1800"/>
              <a:buFont typeface="Century Gothic"/>
              <a:buChar char="○"/>
            </a:pPr>
            <a:r>
              <a:rPr lang="en-US" sz="1800">
                <a:solidFill>
                  <a:schemeClr val="dk1"/>
                </a:solidFill>
              </a:rPr>
              <a:t>Begin work on the district’s strategic plan. </a:t>
            </a:r>
            <a:endParaRPr sz="1800">
              <a:solidFill>
                <a:schemeClr val="dk1"/>
              </a:solidFill>
            </a:endParaRPr>
          </a:p>
          <a:p>
            <a:pPr marL="22860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725" y="249625"/>
            <a:ext cx="1889901" cy="188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HUMAN RESOURCES</a:t>
            </a:r>
            <a:br>
              <a:rPr lang="en-US"/>
            </a:br>
            <a:r>
              <a:rPr lang="en-US"/>
              <a:t>Mr. Brian Wycuff</a:t>
            </a:r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body" idx="1"/>
          </p:nvPr>
        </p:nvSpPr>
        <p:spPr>
          <a:xfrm>
            <a:off x="457199" y="2209800"/>
            <a:ext cx="7607301" cy="391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Accomplishments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Managed over 145 PAP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Moved over 100 staff members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Hired over 44 staff members (16 certified, 28 classified)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Negotiations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Current Projects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Updating employee data bases (AESOP, PSW,eTPES…)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Hiring (currently 3 open positions)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Future Plans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Negotiations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Transitioning RE Program/New Teacher Orientation</a:t>
            </a:r>
            <a:endParaRPr/>
          </a:p>
          <a:p>
            <a:pPr marL="457200" lvl="1" indent="-2286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Revisit HR/Payroll software purchase</a:t>
            </a:r>
            <a:endParaRPr/>
          </a:p>
          <a:p>
            <a:pPr marL="22860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725" y="249625"/>
            <a:ext cx="1889901" cy="188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0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550024" y="470950"/>
            <a:ext cx="6508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STUDENT SERVICES</a:t>
            </a:r>
            <a:br>
              <a:rPr lang="en-US"/>
            </a:br>
            <a:r>
              <a:rPr lang="en-US"/>
              <a:t>Dr. Gina Symsek</a:t>
            </a:r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body" idx="1"/>
          </p:nvPr>
        </p:nvSpPr>
        <p:spPr>
          <a:xfrm>
            <a:off x="477824" y="1817925"/>
            <a:ext cx="7607400" cy="3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Accomplishments</a:t>
            </a:r>
            <a:endParaRPr sz="1800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spcBef>
                <a:spcPts val="180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Mental Health Action Plan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Additional school counselors and configuration of roles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Partnered with University Hospitals and the Broadview Hts. and Brecksville Fire Departments to provide Stop the Bleed training and buckets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    Current and Ongoing Projects and Plans</a:t>
            </a:r>
            <a:endParaRPr sz="1800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spcBef>
                <a:spcPts val="180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Continue to facilitate the implementation of the mental health action plan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Continue to evaluate the gifted identification and delivery of services for students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Providing Gifted Professional Development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Continued focus on special education instructional practices and student progress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725" y="249625"/>
            <a:ext cx="1889901" cy="188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TECHNOLOGY</a:t>
            </a:r>
            <a:br>
              <a:rPr lang="en-US"/>
            </a:br>
            <a:r>
              <a:rPr lang="en-US"/>
              <a:t>Mr. John Schinker</a:t>
            </a:r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457199" y="2209800"/>
            <a:ext cx="7607301" cy="391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Accomplishments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Infrastructure Upgrades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Technology Staffing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1:1 Expansion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Current Projects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Grade level realignment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Replacement Plan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Future Plans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Web Filter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New Technologies for New School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Windows Upgrades</a:t>
            </a:r>
            <a:endParaRPr/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725" y="249625"/>
            <a:ext cx="1889901" cy="188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On-screen Show (4:3)</PresentationFormat>
  <Paragraphs>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Cambria</vt:lpstr>
      <vt:lpstr>Arial</vt:lpstr>
      <vt:lpstr>Noto Sans Symbols</vt:lpstr>
      <vt:lpstr>Century Gothic</vt:lpstr>
      <vt:lpstr>Plaza</vt:lpstr>
      <vt:lpstr>Department Reviews August 7, 2019</vt:lpstr>
      <vt:lpstr>BUSINESS SERVICES Mr. Chris Coad</vt:lpstr>
      <vt:lpstr>CURRICULUM/INSTRUCTION Dr. David Martin</vt:lpstr>
      <vt:lpstr>HUMAN RESOURCES Mr. Brian Wycuff</vt:lpstr>
      <vt:lpstr>STUDENT SERVICES Dr. Gina Symsek</vt:lpstr>
      <vt:lpstr>TECHNOLOGY Mr. John Schinker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Reviews August 7, 2019</dc:title>
  <dc:creator>Jeff Hall</dc:creator>
  <cp:lastModifiedBy>du</cp:lastModifiedBy>
  <cp:revision>1</cp:revision>
  <dcterms:modified xsi:type="dcterms:W3CDTF">2019-08-07T15:55:55Z</dcterms:modified>
</cp:coreProperties>
</file>